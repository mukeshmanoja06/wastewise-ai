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DM Sans Bold" charset="1" panose="00000000000000000000"/>
      <p:regular r:id="rId22"/>
    </p:embeddedFont>
    <p:embeddedFont>
      <p:font typeface="Montserrat Bold" charset="1" panose="00000800000000000000"/>
      <p:regular r:id="rId23"/>
    </p:embeddedFont>
    <p:embeddedFont>
      <p:font typeface="DM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A2B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0100" y="1619250"/>
            <a:ext cx="114300" cy="5715000"/>
            <a:chOff x="0" y="0"/>
            <a:chExt cx="152400" cy="762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8250" y="1666875"/>
            <a:ext cx="857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9DF70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 LEARNING  |  DATA ANALYTICS  |  STREAMLIT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100" y="2705100"/>
            <a:ext cx="8953500" cy="234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WasteWise</a:t>
            </a:r>
          </a:p>
          <a:p>
            <a:pPr algn="l">
              <a:lnSpc>
                <a:spcPts val="8910"/>
              </a:lnSpc>
            </a:pPr>
            <a:r>
              <a:rPr lang="en-US" sz="9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8250" y="5381625"/>
            <a:ext cx="9810750" cy="8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625">
                <a:solidFill>
                  <a:srgbClr val="DBE9E6"/>
                </a:solidFill>
                <a:latin typeface="DM Sans"/>
                <a:ea typeface="DM Sans"/>
                <a:cs typeface="DM Sans"/>
                <a:sym typeface="DM Sans"/>
              </a:rPr>
              <a:t>ML-Based Municipal Solid Waste Generation Estimation &amp; Collection-Priority Support Platform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40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A9C4C2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A9C4C2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planning gap is not a data shortage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 changes by city and time—but collection decisions still depend on fragmented, manual interpretation.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00100" y="2836069"/>
            <a:ext cx="6522120" cy="338138"/>
            <a:chOff x="0" y="0"/>
            <a:chExt cx="8696160" cy="4508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11125"/>
              <a:ext cx="228600" cy="228600"/>
              <a:chOff x="0" y="0"/>
              <a:chExt cx="228600" cy="228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114300" y="0"/>
                    </a:moveTo>
                    <a:cubicBezTo>
                      <a:pt x="177426" y="0"/>
                      <a:pt x="228600" y="51174"/>
                      <a:pt x="228600" y="114300"/>
                    </a:cubicBez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B8F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1160" y="-38100"/>
              <a:ext cx="8255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Variation across cities and fiscal years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0100" y="3979069"/>
            <a:ext cx="6522120" cy="338138"/>
            <a:chOff x="0" y="0"/>
            <a:chExt cx="8696160" cy="45085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11125"/>
              <a:ext cx="228600" cy="228600"/>
              <a:chOff x="0" y="0"/>
              <a:chExt cx="228600" cy="228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114300" y="0"/>
                    </a:moveTo>
                    <a:cubicBezTo>
                      <a:pt x="177426" y="0"/>
                      <a:pt x="228600" y="51174"/>
                      <a:pt x="228600" y="114300"/>
                    </a:cubicBez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B8F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41160" y="-38100"/>
              <a:ext cx="8255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Historical reports and spreadsheets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8200" y="5126831"/>
            <a:ext cx="6543777" cy="338138"/>
            <a:chOff x="0" y="0"/>
            <a:chExt cx="8725036" cy="45085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111125"/>
              <a:ext cx="228600" cy="228600"/>
              <a:chOff x="0" y="0"/>
              <a:chExt cx="228600" cy="2286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114300" y="0"/>
                    </a:moveTo>
                    <a:cubicBezTo>
                      <a:pt x="177426" y="0"/>
                      <a:pt x="228600" y="51174"/>
                      <a:pt x="228600" y="114300"/>
                    </a:cubicBez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B8F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70036" y="-38100"/>
              <a:ext cx="8255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Manual judgment slows comparison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8200" y="6269831"/>
            <a:ext cx="6565434" cy="338138"/>
            <a:chOff x="0" y="0"/>
            <a:chExt cx="8753912" cy="45085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111125"/>
              <a:ext cx="228600" cy="228600"/>
              <a:chOff x="0" y="0"/>
              <a:chExt cx="228600" cy="228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28600" cy="228600"/>
              </a:xfrm>
              <a:custGeom>
                <a:avLst/>
                <a:gdLst/>
                <a:ahLst/>
                <a:cxnLst/>
                <a:rect r="r" b="b" t="t" l="l"/>
                <a:pathLst>
                  <a:path h="228600" w="228600">
                    <a:moveTo>
                      <a:pt x="114300" y="0"/>
                    </a:moveTo>
                    <a:cubicBezTo>
                      <a:pt x="177426" y="0"/>
                      <a:pt x="228600" y="51174"/>
                      <a:pt x="228600" y="114300"/>
                    </a:cubicBez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B8F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98912" y="-38100"/>
              <a:ext cx="8255000" cy="488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Higher collection needs are hard to spot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72500" y="3714750"/>
            <a:ext cx="2381250" cy="1428750"/>
            <a:chOff x="0" y="0"/>
            <a:chExt cx="3175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0953750" y="4429125"/>
            <a:ext cx="42862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620500" y="3714750"/>
            <a:ext cx="2476500" cy="1428750"/>
            <a:chOff x="0" y="0"/>
            <a:chExt cx="3302000" cy="190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0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302000">
                  <a:moveTo>
                    <a:pt x="78154" y="0"/>
                  </a:moveTo>
                  <a:lnTo>
                    <a:pt x="3223846" y="0"/>
                  </a:lnTo>
                  <a:cubicBezTo>
                    <a:pt x="3244574" y="0"/>
                    <a:pt x="3264453" y="8234"/>
                    <a:pt x="3279109" y="22891"/>
                  </a:cubicBezTo>
                  <a:cubicBezTo>
                    <a:pt x="3293766" y="37547"/>
                    <a:pt x="3302000" y="57426"/>
                    <a:pt x="3302000" y="78154"/>
                  </a:cubicBezTo>
                  <a:lnTo>
                    <a:pt x="3302000" y="1826846"/>
                  </a:lnTo>
                  <a:cubicBezTo>
                    <a:pt x="3302000" y="1847574"/>
                    <a:pt x="3293766" y="1867453"/>
                    <a:pt x="3279109" y="1882109"/>
                  </a:cubicBezTo>
                  <a:cubicBezTo>
                    <a:pt x="3264453" y="1896766"/>
                    <a:pt x="3244574" y="1905000"/>
                    <a:pt x="3223846" y="1905000"/>
                  </a:cubicBezTo>
                  <a:lnTo>
                    <a:pt x="78154" y="1905000"/>
                  </a:lnTo>
                  <a:cubicBezTo>
                    <a:pt x="57426" y="1905000"/>
                    <a:pt x="37547" y="1896766"/>
                    <a:pt x="22891" y="1882109"/>
                  </a:cubicBezTo>
                  <a:cubicBezTo>
                    <a:pt x="8234" y="1867453"/>
                    <a:pt x="0" y="1847574"/>
                    <a:pt x="0" y="1826846"/>
                  </a:cubicBezTo>
                  <a:lnTo>
                    <a:pt x="0" y="78154"/>
                  </a:lnTo>
                  <a:cubicBezTo>
                    <a:pt x="0" y="57426"/>
                    <a:pt x="8234" y="37547"/>
                    <a:pt x="22891" y="22891"/>
                  </a:cubicBezTo>
                  <a:cubicBezTo>
                    <a:pt x="37547" y="8234"/>
                    <a:pt x="57426" y="0"/>
                    <a:pt x="78154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3302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PLANNING GAP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001750" y="4429125"/>
            <a:ext cx="71437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4954250" y="3714750"/>
            <a:ext cx="2381250" cy="1428750"/>
            <a:chOff x="0" y="0"/>
            <a:chExt cx="3175000" cy="1905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823720"/>
                  </a:lnTo>
                  <a:cubicBezTo>
                    <a:pt x="3175000" y="1845277"/>
                    <a:pt x="3166437" y="1865951"/>
                    <a:pt x="3151194" y="1881194"/>
                  </a:cubicBezTo>
                  <a:cubicBezTo>
                    <a:pt x="3135951" y="1896437"/>
                    <a:pt x="3115277" y="1905000"/>
                    <a:pt x="3093720" y="1905000"/>
                  </a:cubicBezTo>
                  <a:lnTo>
                    <a:pt x="81280" y="1905000"/>
                  </a:lnTo>
                  <a:cubicBezTo>
                    <a:pt x="59723" y="1905000"/>
                    <a:pt x="39049" y="1896437"/>
                    <a:pt x="23806" y="1881194"/>
                  </a:cubicBezTo>
                  <a:cubicBezTo>
                    <a:pt x="8563" y="1865951"/>
                    <a:pt x="0" y="1845277"/>
                    <a:pt x="0" y="1823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COLLECTION CHALLENGE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WasteWise AI aims to 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0100" y="2381250"/>
            <a:ext cx="5143500" cy="2571750"/>
            <a:chOff x="0" y="0"/>
            <a:chExt cx="6858000" cy="3429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342900"/>
              <a:ext cx="127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168400"/>
              <a:ext cx="5969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Analyse historical waste across Indian cities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72250" y="2381250"/>
            <a:ext cx="5143500" cy="2571750"/>
            <a:chOff x="0" y="0"/>
            <a:chExt cx="6858000" cy="3429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342900"/>
              <a:ext cx="127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168400"/>
              <a:ext cx="5969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Build an explainable supervised regression model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0" y="2381250"/>
            <a:ext cx="5143500" cy="2571750"/>
            <a:chOff x="0" y="0"/>
            <a:chExt cx="6858000" cy="3429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342900"/>
              <a:ext cx="127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168400"/>
              <a:ext cx="5969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Respect temporal order in evaluation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67125" y="5619750"/>
            <a:ext cx="5143500" cy="2571750"/>
            <a:chOff x="0" y="0"/>
            <a:chExt cx="6858000" cy="3429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342900"/>
              <a:ext cx="127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168400"/>
              <a:ext cx="5969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Translate estimates into priority bands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39275" y="5619750"/>
            <a:ext cx="5143500" cy="2571750"/>
            <a:chOff x="0" y="0"/>
            <a:chExt cx="6858000" cy="3429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858000" cy="3429000"/>
              <a:chOff x="0" y="0"/>
              <a:chExt cx="6858000" cy="3429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858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858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82600" y="342900"/>
              <a:ext cx="127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82600" y="1168400"/>
              <a:ext cx="5969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Enable interactive exploration and prediction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data source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MoSPI · EnviStats India 2024 · Statement 3.06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2143125"/>
            <a:ext cx="3810000" cy="1619250"/>
            <a:chOff x="0" y="0"/>
            <a:chExt cx="5080000" cy="2159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0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54000" y="393700"/>
              <a:ext cx="4572000" cy="955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5"/>
                </a:lnSpc>
              </a:pPr>
              <a:r>
                <a:rPr lang="en-US" sz="51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414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54000" y="1304925"/>
              <a:ext cx="4572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city-year rows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7750" y="2143125"/>
            <a:ext cx="3810000" cy="1619250"/>
            <a:chOff x="0" y="0"/>
            <a:chExt cx="5080000" cy="215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080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54000" y="393700"/>
              <a:ext cx="4572000" cy="955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5"/>
                </a:lnSpc>
              </a:pPr>
              <a:r>
                <a:rPr lang="en-US" sz="51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46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54000" y="1304925"/>
              <a:ext cx="4572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cities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48750" y="2143125"/>
            <a:ext cx="3810000" cy="1619250"/>
            <a:chOff x="0" y="0"/>
            <a:chExt cx="5080000" cy="2159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80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4000" y="393700"/>
              <a:ext cx="4572000" cy="955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5"/>
                </a:lnSpc>
              </a:pPr>
              <a:r>
                <a:rPr lang="en-US" sz="51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4000" y="1304925"/>
              <a:ext cx="4572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fiscal snapshots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39750" y="2143125"/>
            <a:ext cx="3810000" cy="1619250"/>
            <a:chOff x="0" y="0"/>
            <a:chExt cx="5080000" cy="2159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80000" cy="2159000"/>
              <a:chOff x="0" y="0"/>
              <a:chExt cx="5080000" cy="2159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80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080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54000" y="393700"/>
              <a:ext cx="4572000" cy="955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5"/>
                </a:lnSpc>
              </a:pPr>
              <a:r>
                <a:rPr lang="en-US" sz="51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307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54000" y="1304925"/>
              <a:ext cx="4572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observed targets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143000" y="5381625"/>
            <a:ext cx="15906750" cy="0"/>
          </a:xfrm>
          <a:prstGeom prst="line">
            <a:avLst/>
          </a:prstGeom>
          <a:ln cap="rnd" w="76200">
            <a:solidFill>
              <a:srgbClr val="D7E2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028700" y="5267325"/>
            <a:ext cx="228600" cy="228600"/>
            <a:chOff x="0" y="0"/>
            <a:chExt cx="304800" cy="304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00625" y="5267325"/>
            <a:ext cx="228600" cy="228600"/>
            <a:chOff x="0" y="0"/>
            <a:chExt cx="304800" cy="304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72550" y="5267325"/>
            <a:ext cx="228600" cy="228600"/>
            <a:chOff x="0" y="0"/>
            <a:chExt cx="304800" cy="304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44475" y="5267325"/>
            <a:ext cx="228600" cy="228600"/>
            <a:chOff x="0" y="0"/>
            <a:chExt cx="304800" cy="304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6400" y="5267325"/>
            <a:ext cx="228600" cy="228600"/>
            <a:chOff x="0" y="0"/>
            <a:chExt cx="304800" cy="304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55B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476250" y="5591175"/>
            <a:ext cx="1333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1999–00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48175" y="5591175"/>
            <a:ext cx="1333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2005–06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20100" y="5591175"/>
            <a:ext cx="1333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2010–11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92025" y="5591175"/>
            <a:ext cx="1333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2015–16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363950" y="5591175"/>
            <a:ext cx="1333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2022–23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2000250" y="6762750"/>
            <a:ext cx="14287500" cy="2381250"/>
            <a:chOff x="0" y="0"/>
            <a:chExt cx="19050000" cy="3175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9050000" cy="3175000"/>
              <a:chOff x="0" y="0"/>
              <a:chExt cx="19050000" cy="3175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9050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90500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19050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0"/>
              <a:ext cx="19050000" cy="762000"/>
              <a:chOff x="0" y="0"/>
              <a:chExt cx="19050000" cy="7620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9050000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190500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071A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19050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508000" y="225425"/>
              <a:ext cx="18034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CITY                 YEAR          POPULATION          WASTE (t/day)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508000" y="968375"/>
              <a:ext cx="18034000" cy="1278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Delhi                2022          16.8M                     11,038</a:t>
              </a:r>
            </a:p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Pune                 2022            3.1M                       2,100</a:t>
              </a:r>
            </a:p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Mysuru             2022            1.0M                          530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raw data to model-ready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952750"/>
            <a:ext cx="2333625" cy="1428750"/>
            <a:chOff x="0" y="0"/>
            <a:chExt cx="31115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822061"/>
                  </a:lnTo>
                  <a:cubicBezTo>
                    <a:pt x="3111500" y="1844058"/>
                    <a:pt x="3102762" y="1865154"/>
                    <a:pt x="3087208" y="1880708"/>
                  </a:cubicBezTo>
                  <a:cubicBezTo>
                    <a:pt x="3071654" y="1896262"/>
                    <a:pt x="3050558" y="1905000"/>
                    <a:pt x="3028561" y="1905000"/>
                  </a:cubicBezTo>
                  <a:lnTo>
                    <a:pt x="82939" y="1905000"/>
                  </a:lnTo>
                  <a:cubicBezTo>
                    <a:pt x="60942" y="1905000"/>
                    <a:pt x="39846" y="1896262"/>
                    <a:pt x="24292" y="1880708"/>
                  </a:cubicBezTo>
                  <a:cubicBezTo>
                    <a:pt x="8738" y="1865154"/>
                    <a:pt x="0" y="1844058"/>
                    <a:pt x="0" y="1822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111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DATA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000375" y="3667125"/>
            <a:ext cx="42862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571875" y="2952750"/>
            <a:ext cx="2333625" cy="1428750"/>
            <a:chOff x="0" y="0"/>
            <a:chExt cx="31115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822061"/>
                  </a:lnTo>
                  <a:cubicBezTo>
                    <a:pt x="3111500" y="1844058"/>
                    <a:pt x="3102762" y="1865154"/>
                    <a:pt x="3087208" y="1880708"/>
                  </a:cubicBezTo>
                  <a:cubicBezTo>
                    <a:pt x="3071654" y="1896262"/>
                    <a:pt x="3050558" y="1905000"/>
                    <a:pt x="3028561" y="1905000"/>
                  </a:cubicBezTo>
                  <a:lnTo>
                    <a:pt x="82939" y="1905000"/>
                  </a:lnTo>
                  <a:cubicBezTo>
                    <a:pt x="60942" y="1905000"/>
                    <a:pt x="39846" y="1896262"/>
                    <a:pt x="24292" y="1880708"/>
                  </a:cubicBezTo>
                  <a:cubicBezTo>
                    <a:pt x="8738" y="1865154"/>
                    <a:pt x="0" y="1844058"/>
                    <a:pt x="0" y="1822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3111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CLEANING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905500" y="3667125"/>
            <a:ext cx="42862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477000" y="2952750"/>
            <a:ext cx="2333625" cy="1428750"/>
            <a:chOff x="0" y="0"/>
            <a:chExt cx="31115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822061"/>
                  </a:lnTo>
                  <a:cubicBezTo>
                    <a:pt x="3111500" y="1844058"/>
                    <a:pt x="3102762" y="1865154"/>
                    <a:pt x="3087208" y="1880708"/>
                  </a:cubicBezTo>
                  <a:cubicBezTo>
                    <a:pt x="3071654" y="1896262"/>
                    <a:pt x="3050558" y="1905000"/>
                    <a:pt x="3028561" y="1905000"/>
                  </a:cubicBezTo>
                  <a:lnTo>
                    <a:pt x="82939" y="1905000"/>
                  </a:lnTo>
                  <a:cubicBezTo>
                    <a:pt x="60942" y="1905000"/>
                    <a:pt x="39846" y="1896262"/>
                    <a:pt x="24292" y="1880708"/>
                  </a:cubicBezTo>
                  <a:cubicBezTo>
                    <a:pt x="8738" y="1865154"/>
                    <a:pt x="0" y="1844058"/>
                    <a:pt x="0" y="1822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111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MISSING TARGET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810625" y="3667125"/>
            <a:ext cx="42862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382125" y="2952750"/>
            <a:ext cx="2333625" cy="1428750"/>
            <a:chOff x="0" y="0"/>
            <a:chExt cx="31115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822061"/>
                  </a:lnTo>
                  <a:cubicBezTo>
                    <a:pt x="3111500" y="1844058"/>
                    <a:pt x="3102762" y="1865154"/>
                    <a:pt x="3087208" y="1880708"/>
                  </a:cubicBezTo>
                  <a:cubicBezTo>
                    <a:pt x="3071654" y="1896262"/>
                    <a:pt x="3050558" y="1905000"/>
                    <a:pt x="3028561" y="1905000"/>
                  </a:cubicBezTo>
                  <a:lnTo>
                    <a:pt x="82939" y="1905000"/>
                  </a:lnTo>
                  <a:cubicBezTo>
                    <a:pt x="60942" y="1905000"/>
                    <a:pt x="39846" y="1896262"/>
                    <a:pt x="24292" y="1880708"/>
                  </a:cubicBezTo>
                  <a:cubicBezTo>
                    <a:pt x="8738" y="1865154"/>
                    <a:pt x="0" y="1844058"/>
                    <a:pt x="0" y="1822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3111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FEATURE ENGINEERING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1715750" y="3667125"/>
            <a:ext cx="42862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2287250" y="2952750"/>
            <a:ext cx="2333625" cy="1428750"/>
            <a:chOff x="0" y="0"/>
            <a:chExt cx="31115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822061"/>
                  </a:lnTo>
                  <a:cubicBezTo>
                    <a:pt x="3111500" y="1844058"/>
                    <a:pt x="3102762" y="1865154"/>
                    <a:pt x="3087208" y="1880708"/>
                  </a:cubicBezTo>
                  <a:cubicBezTo>
                    <a:pt x="3071654" y="1896262"/>
                    <a:pt x="3050558" y="1905000"/>
                    <a:pt x="3028561" y="1905000"/>
                  </a:cubicBezTo>
                  <a:lnTo>
                    <a:pt x="82939" y="1905000"/>
                  </a:lnTo>
                  <a:cubicBezTo>
                    <a:pt x="60942" y="1905000"/>
                    <a:pt x="39846" y="1896262"/>
                    <a:pt x="24292" y="1880708"/>
                  </a:cubicBezTo>
                  <a:cubicBezTo>
                    <a:pt x="8738" y="1865154"/>
                    <a:pt x="0" y="1844058"/>
                    <a:pt x="0" y="1822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111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LEAKAGE CONTROL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4620875" y="3667125"/>
            <a:ext cx="428625" cy="0"/>
          </a:xfrm>
          <a:prstGeom prst="line">
            <a:avLst/>
          </a:prstGeom>
          <a:ln cap="rnd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5192375" y="2952750"/>
            <a:ext cx="2333625" cy="1428750"/>
            <a:chOff x="0" y="0"/>
            <a:chExt cx="31115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822061"/>
                  </a:lnTo>
                  <a:cubicBezTo>
                    <a:pt x="3111500" y="1844058"/>
                    <a:pt x="3102762" y="1865154"/>
                    <a:pt x="3087208" y="1880708"/>
                  </a:cubicBezTo>
                  <a:cubicBezTo>
                    <a:pt x="3071654" y="1896262"/>
                    <a:pt x="3050558" y="1905000"/>
                    <a:pt x="3028561" y="1905000"/>
                  </a:cubicBezTo>
                  <a:lnTo>
                    <a:pt x="82939" y="1905000"/>
                  </a:lnTo>
                  <a:cubicBezTo>
                    <a:pt x="60942" y="1905000"/>
                    <a:pt x="39846" y="1896262"/>
                    <a:pt x="24292" y="1880708"/>
                  </a:cubicBezTo>
                  <a:cubicBezTo>
                    <a:pt x="8738" y="1865154"/>
                    <a:pt x="0" y="1844058"/>
                    <a:pt x="0" y="1822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3111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READY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4375" y="5524500"/>
            <a:ext cx="3238500" cy="1428750"/>
            <a:chOff x="0" y="0"/>
            <a:chExt cx="4318000" cy="1905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318000" cy="1905000"/>
              <a:chOff x="0" y="0"/>
              <a:chExt cx="4318000" cy="1905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318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E6F4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318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4000" y="342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0B8F8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414 → 405 rows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048125" y="5524500"/>
            <a:ext cx="3238500" cy="1428750"/>
            <a:chOff x="0" y="0"/>
            <a:chExt cx="4318000" cy="1905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318000" cy="1905000"/>
              <a:chOff x="0" y="0"/>
              <a:chExt cx="4318000" cy="1905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318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E6F4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318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54000" y="342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0B8F8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307 observed targets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81875" y="5524500"/>
            <a:ext cx="3238500" cy="1428750"/>
            <a:chOff x="0" y="0"/>
            <a:chExt cx="4318000" cy="1905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318000" cy="1905000"/>
              <a:chOff x="0" y="0"/>
              <a:chExt cx="4318000" cy="1905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318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4318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54000" y="342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log1p target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15625" y="5524500"/>
            <a:ext cx="3238500" cy="1428750"/>
            <a:chOff x="0" y="0"/>
            <a:chExt cx="4318000" cy="1905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4318000" cy="1905000"/>
              <a:chOff x="0" y="0"/>
              <a:chExt cx="4318000" cy="1905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318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4318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54000" y="342900"/>
              <a:ext cx="381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 population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049375" y="5524500"/>
            <a:ext cx="3238500" cy="1428750"/>
            <a:chOff x="0" y="0"/>
            <a:chExt cx="4318000" cy="19050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4318000" cy="1905000"/>
              <a:chOff x="0" y="0"/>
              <a:chExt cx="4318000" cy="1905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318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4318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254000" y="352425"/>
              <a:ext cx="381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Leakage features excluded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Chronological by design: future observations never inform the past.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619375"/>
            <a:ext cx="4953000" cy="3714750"/>
            <a:chOff x="0" y="0"/>
            <a:chExt cx="6604000" cy="495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406400"/>
              <a:ext cx="533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0B8F8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INPUT FEATURES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1320800"/>
              <a:ext cx="5461000" cy="2376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year_start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log_population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pop_tier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city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905500" y="4476750"/>
            <a:ext cx="619125" cy="0"/>
          </a:xfrm>
          <a:prstGeom prst="line">
            <a:avLst/>
          </a:prstGeom>
          <a:ln cap="rnd" w="47625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67500" y="2619375"/>
            <a:ext cx="4953000" cy="3714750"/>
            <a:chOff x="0" y="0"/>
            <a:chExt cx="6604000" cy="4953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08000" y="406400"/>
              <a:ext cx="533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0B8F8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08000" y="1320800"/>
              <a:ext cx="5461000" cy="1767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Dummy · Ridge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Random Forest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Gradient Boosting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715750" y="4476750"/>
            <a:ext cx="619125" cy="0"/>
          </a:xfrm>
          <a:prstGeom prst="line">
            <a:avLst/>
          </a:prstGeom>
          <a:ln cap="rnd" w="47625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477750" y="2619375"/>
            <a:ext cx="4953000" cy="3714750"/>
            <a:chOff x="0" y="0"/>
            <a:chExt cx="6604000" cy="4953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06400"/>
              <a:ext cx="5334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0B8F8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EVALUATION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1320800"/>
              <a:ext cx="5461000" cy="1157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Train 172 · Test 135</a:t>
              </a:r>
            </a:p>
            <a:p>
              <a:pPr algn="l">
                <a:lnSpc>
                  <a:spcPts val="3603"/>
                </a:lnSpc>
              </a:pPr>
              <a:r>
                <a:rPr lang="en-US" sz="2325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5-fold time-aware CV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38750" y="7000875"/>
            <a:ext cx="7810500" cy="952500"/>
            <a:chOff x="0" y="0"/>
            <a:chExt cx="10414000" cy="1270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414000" cy="1270000"/>
              <a:chOff x="0" y="0"/>
              <a:chExt cx="10414000" cy="127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414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71A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414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54000" y="269875"/>
              <a:ext cx="9906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4"/>
                </a:lnSpc>
              </a:pPr>
              <a:r>
                <a:rPr lang="en-US" sz="23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TARGET  ·  log1p(waste_generated)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Gradient Boosting leads on RMSE and R²; Random Forest leads on MAE and MAPE.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25568" y="1342234"/>
            <a:ext cx="13224137" cy="8269283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2668250" y="2428875"/>
            <a:ext cx="4762500" cy="5143500"/>
            <a:chOff x="0" y="0"/>
            <a:chExt cx="6350000" cy="6858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350000" cy="6858000"/>
              <a:chOff x="0" y="0"/>
              <a:chExt cx="6350000" cy="6858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858000"/>
              </a:xfrm>
              <a:custGeom>
                <a:avLst/>
                <a:gdLst/>
                <a:ahLst/>
                <a:cxnLst/>
                <a:rect r="r" b="b" t="t" l="l"/>
                <a:pathLst>
                  <a:path h="6858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E6F4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0" cy="689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762000" y="666750"/>
              <a:ext cx="4572000" cy="127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87"/>
                </a:lnSpc>
              </a:pPr>
              <a:r>
                <a:rPr lang="en-US" sz="67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0.920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62000" y="1866900"/>
              <a:ext cx="4572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6071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 R²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62000" y="3968750"/>
              <a:ext cx="4572000" cy="127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87"/>
                </a:lnSpc>
              </a:pPr>
              <a:r>
                <a:rPr lang="en-US" sz="67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581.7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62000" y="5168900"/>
              <a:ext cx="4572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true">
                  <a:solidFill>
                    <a:srgbClr val="6071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LOWEST RMSE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Gradient Boosting?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2381250"/>
            <a:ext cx="7620000" cy="2000250"/>
            <a:chOff x="0" y="0"/>
            <a:chExt cx="10160000" cy="2667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498475"/>
              <a:ext cx="8890000" cy="1029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BEST TEST RMSE</a:t>
              </a:r>
            </a:p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581.7 t/day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53500" y="2381250"/>
            <a:ext cx="7620000" cy="2000250"/>
            <a:chOff x="0" y="0"/>
            <a:chExt cx="10160000" cy="2667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000" y="498475"/>
              <a:ext cx="8890000" cy="1029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HIGHEST TEST R²</a:t>
              </a:r>
            </a:p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0.920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2000" y="4857750"/>
            <a:ext cx="7620000" cy="2000250"/>
            <a:chOff x="0" y="0"/>
            <a:chExt cx="10160000" cy="2667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000" y="498475"/>
              <a:ext cx="8890000" cy="1029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BEST TIME-AWARE CV</a:t>
              </a:r>
            </a:p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log-RMSE 0.463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53500" y="4857750"/>
            <a:ext cx="7620000" cy="2000250"/>
            <a:chOff x="0" y="0"/>
            <a:chExt cx="10160000" cy="2667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60000" cy="2667000"/>
              <a:chOff x="0" y="0"/>
              <a:chExt cx="10160000" cy="2667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160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160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98475"/>
              <a:ext cx="8890000" cy="1029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1424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PRACTICAL FIT</a:t>
              </a:r>
            </a:p>
            <a:p>
              <a:pPr algn="l">
                <a:lnSpc>
                  <a:spcPts val="3093"/>
                </a:lnSpc>
              </a:pPr>
              <a:r>
                <a:rPr lang="en-US" sz="2475" b="true">
                  <a:solidFill>
                    <a:srgbClr val="14243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Non-linear · small data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143250" y="7524750"/>
            <a:ext cx="12001500" cy="1047750"/>
            <a:chOff x="0" y="0"/>
            <a:chExt cx="16002000" cy="1397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6002000" cy="1397000"/>
              <a:chOff x="0" y="0"/>
              <a:chExt cx="16002000" cy="1397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002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6002000">
                    <a:moveTo>
                      <a:pt x="0" y="0"/>
                    </a:moveTo>
                    <a:lnTo>
                      <a:pt x="16002000" y="0"/>
                    </a:lnTo>
                    <a:lnTo>
                      <a:pt x="16002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071A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6002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08000" y="333375"/>
              <a:ext cx="14986000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0"/>
                </a:lnSpc>
              </a:pPr>
              <a:r>
                <a:rPr lang="en-US" sz="28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R² = 0.920 is not 92% accuracy.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drives the model?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Importance shows model reliance—not causation.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96926" y="1564995"/>
            <a:ext cx="11909602" cy="782375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906250" y="3181350"/>
            <a:ext cx="49530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Population scale dominates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06250" y="4724400"/>
            <a:ext cx="4953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42432"/>
                </a:solidFill>
                <a:latin typeface="DM Sans"/>
                <a:ea typeface="DM Sans"/>
                <a:cs typeface="DM Sans"/>
                <a:sym typeface="DM Sans"/>
              </a:rPr>
              <a:t>Time contributes meaningful signal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6250" y="6153150"/>
            <a:ext cx="4953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42432"/>
                </a:solidFill>
                <a:latin typeface="DM Sans"/>
                <a:ea typeface="DM Sans"/>
                <a:cs typeface="DM Sans"/>
                <a:sym typeface="DM Sans"/>
              </a:rPr>
              <a:t>City and tier effects are smaller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prediction to collection priority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Thresholds are frozen from the 172-row training period only.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4095750"/>
            <a:ext cx="4762500" cy="2190750"/>
            <a:chOff x="0" y="0"/>
            <a:chExt cx="6350000" cy="292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350000">
                  <a:moveTo>
                    <a:pt x="40640" y="0"/>
                  </a:moveTo>
                  <a:lnTo>
                    <a:pt x="6309360" y="0"/>
                  </a:lnTo>
                  <a:cubicBezTo>
                    <a:pt x="6331805" y="0"/>
                    <a:pt x="6350000" y="18195"/>
                    <a:pt x="6350000" y="40640"/>
                  </a:cubicBezTo>
                  <a:lnTo>
                    <a:pt x="6350000" y="2880360"/>
                  </a:lnTo>
                  <a:cubicBezTo>
                    <a:pt x="6350000" y="2902805"/>
                    <a:pt x="6331805" y="2921000"/>
                    <a:pt x="6309360" y="2921000"/>
                  </a:cubicBezTo>
                  <a:lnTo>
                    <a:pt x="40640" y="2921000"/>
                  </a:lnTo>
                  <a:cubicBezTo>
                    <a:pt x="18195" y="2921000"/>
                    <a:pt x="0" y="2902805"/>
                    <a:pt x="0" y="2880360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B9DF7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350000" cy="290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LOW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≤ 510.43 t/day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05500" y="4095750"/>
            <a:ext cx="5334000" cy="2190750"/>
            <a:chOff x="0" y="0"/>
            <a:chExt cx="71120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71120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2884714"/>
                  </a:lnTo>
                  <a:cubicBezTo>
                    <a:pt x="7112000" y="2904754"/>
                    <a:pt x="7095754" y="2921000"/>
                    <a:pt x="7075715" y="2921000"/>
                  </a:cubicBezTo>
                  <a:lnTo>
                    <a:pt x="36286" y="2921000"/>
                  </a:lnTo>
                  <a:cubicBezTo>
                    <a:pt x="16246" y="2921000"/>
                    <a:pt x="0" y="2904754"/>
                    <a:pt x="0" y="288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1C56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7112000" cy="290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MEDIUM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&gt; 510.43 to 1,010.0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39500" y="4095750"/>
            <a:ext cx="5905500" cy="2190750"/>
            <a:chOff x="0" y="0"/>
            <a:chExt cx="7874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74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7874000">
                  <a:moveTo>
                    <a:pt x="32774" y="0"/>
                  </a:moveTo>
                  <a:lnTo>
                    <a:pt x="7841226" y="0"/>
                  </a:lnTo>
                  <a:cubicBezTo>
                    <a:pt x="7849918" y="0"/>
                    <a:pt x="7858254" y="3453"/>
                    <a:pt x="7864401" y="9599"/>
                  </a:cubicBezTo>
                  <a:cubicBezTo>
                    <a:pt x="7870547" y="15746"/>
                    <a:pt x="7874000" y="24082"/>
                    <a:pt x="7874000" y="32774"/>
                  </a:cubicBezTo>
                  <a:lnTo>
                    <a:pt x="7874000" y="2888226"/>
                  </a:lnTo>
                  <a:cubicBezTo>
                    <a:pt x="7874000" y="2896918"/>
                    <a:pt x="7870547" y="2905254"/>
                    <a:pt x="7864401" y="2911401"/>
                  </a:cubicBezTo>
                  <a:cubicBezTo>
                    <a:pt x="7858254" y="2917547"/>
                    <a:pt x="7849918" y="2921000"/>
                    <a:pt x="7841226" y="2921000"/>
                  </a:cubicBezTo>
                  <a:lnTo>
                    <a:pt x="32774" y="2921000"/>
                  </a:lnTo>
                  <a:cubicBezTo>
                    <a:pt x="24082" y="2921000"/>
                    <a:pt x="15746" y="2917547"/>
                    <a:pt x="9599" y="2911401"/>
                  </a:cubicBezTo>
                  <a:cubicBezTo>
                    <a:pt x="3453" y="2905254"/>
                    <a:pt x="0" y="2896918"/>
                    <a:pt x="0" y="2888226"/>
                  </a:cubicBezTo>
                  <a:lnTo>
                    <a:pt x="0" y="32774"/>
                  </a:lnTo>
                  <a:cubicBezTo>
                    <a:pt x="0" y="24082"/>
                    <a:pt x="3453" y="15746"/>
                    <a:pt x="9599" y="9599"/>
                  </a:cubicBezTo>
                  <a:cubicBezTo>
                    <a:pt x="15746" y="3453"/>
                    <a:pt x="24082" y="0"/>
                    <a:pt x="32774" y="0"/>
                  </a:cubicBezTo>
                  <a:close/>
                </a:path>
              </a:pathLst>
            </a:custGeom>
            <a:solidFill>
              <a:srgbClr val="D9786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7874000" cy="290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HIGH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&gt; 1,010.0 t/day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28750" y="2809875"/>
            <a:ext cx="4000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B8F87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PREDICTED WASTE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8000" y="2809875"/>
            <a:ext cx="4572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B8F87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THRESHOLDS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35000" y="2809875"/>
            <a:ext cx="3429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B8F87"/>
                </a:solidFill>
                <a:latin typeface="DM Sans Bold"/>
                <a:ea typeface="DM Sans Bold"/>
                <a:cs typeface="DM Sans Bold"/>
                <a:sym typeface="DM Sans Bold"/>
              </a:rPr>
              <a:t>PRIORITY BAND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405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834" y="2080495"/>
            <a:ext cx="13065616" cy="7023741"/>
          </a:xfrm>
          <a:custGeom>
            <a:avLst/>
            <a:gdLst/>
            <a:ahLst/>
            <a:cxnLst/>
            <a:rect r="r" b="b" t="t" l="l"/>
            <a:pathLst>
              <a:path h="7023741" w="13065616">
                <a:moveTo>
                  <a:pt x="0" y="0"/>
                </a:moveTo>
                <a:lnTo>
                  <a:pt x="13065616" y="0"/>
                </a:lnTo>
                <a:lnTo>
                  <a:pt x="13065616" y="7023741"/>
                </a:lnTo>
                <a:lnTo>
                  <a:pt x="0" y="7023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" t="-4785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849D9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WasteWise AI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Explore · predict · compare · explain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A9C4C2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A9C4C2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a user interacts with WasteWise AI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23875" y="3333750"/>
            <a:ext cx="2952750" cy="1619250"/>
            <a:chOff x="0" y="0"/>
            <a:chExt cx="3937000" cy="215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3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093452"/>
                  </a:lnTo>
                  <a:cubicBezTo>
                    <a:pt x="3937000" y="2110836"/>
                    <a:pt x="3930094" y="2127509"/>
                    <a:pt x="3917801" y="2139801"/>
                  </a:cubicBezTo>
                  <a:cubicBezTo>
                    <a:pt x="3905509" y="2152094"/>
                    <a:pt x="3888836" y="2159000"/>
                    <a:pt x="3871452" y="2159000"/>
                  </a:cubicBezTo>
                  <a:lnTo>
                    <a:pt x="65548" y="2159000"/>
                  </a:lnTo>
                  <a:cubicBezTo>
                    <a:pt x="48164" y="2159000"/>
                    <a:pt x="31491" y="2152094"/>
                    <a:pt x="19199" y="2139801"/>
                  </a:cubicBezTo>
                  <a:cubicBezTo>
                    <a:pt x="6906" y="2127509"/>
                    <a:pt x="0" y="2110836"/>
                    <a:pt x="0" y="2093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937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SELECT CITY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476625" y="4143375"/>
            <a:ext cx="476250" cy="0"/>
          </a:xfrm>
          <a:prstGeom prst="line">
            <a:avLst/>
          </a:prstGeom>
          <a:ln cap="flat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095750" y="3333750"/>
            <a:ext cx="2952750" cy="1619250"/>
            <a:chOff x="0" y="0"/>
            <a:chExt cx="3937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093452"/>
                  </a:lnTo>
                  <a:cubicBezTo>
                    <a:pt x="3937000" y="2110836"/>
                    <a:pt x="3930094" y="2127509"/>
                    <a:pt x="3917801" y="2139801"/>
                  </a:cubicBezTo>
                  <a:cubicBezTo>
                    <a:pt x="3905509" y="2152094"/>
                    <a:pt x="3888836" y="2159000"/>
                    <a:pt x="3871452" y="2159000"/>
                  </a:cubicBezTo>
                  <a:lnTo>
                    <a:pt x="65548" y="2159000"/>
                  </a:lnTo>
                  <a:cubicBezTo>
                    <a:pt x="48164" y="2159000"/>
                    <a:pt x="31491" y="2152094"/>
                    <a:pt x="19199" y="2139801"/>
                  </a:cubicBezTo>
                  <a:cubicBezTo>
                    <a:pt x="6906" y="2127509"/>
                    <a:pt x="0" y="2110836"/>
                    <a:pt x="0" y="2093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3937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SET POPULATION + YEAR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7048500" y="4143375"/>
            <a:ext cx="476250" cy="0"/>
          </a:xfrm>
          <a:prstGeom prst="line">
            <a:avLst/>
          </a:prstGeom>
          <a:ln cap="flat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667625" y="3333750"/>
            <a:ext cx="2952750" cy="1619250"/>
            <a:chOff x="0" y="0"/>
            <a:chExt cx="3937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3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093452"/>
                  </a:lnTo>
                  <a:cubicBezTo>
                    <a:pt x="3937000" y="2110836"/>
                    <a:pt x="3930094" y="2127509"/>
                    <a:pt x="3917801" y="2139801"/>
                  </a:cubicBezTo>
                  <a:cubicBezTo>
                    <a:pt x="3905509" y="2152094"/>
                    <a:pt x="3888836" y="2159000"/>
                    <a:pt x="3871452" y="2159000"/>
                  </a:cubicBezTo>
                  <a:lnTo>
                    <a:pt x="65548" y="2159000"/>
                  </a:lnTo>
                  <a:cubicBezTo>
                    <a:pt x="48164" y="2159000"/>
                    <a:pt x="31491" y="2152094"/>
                    <a:pt x="19199" y="2139801"/>
                  </a:cubicBezTo>
                  <a:cubicBezTo>
                    <a:pt x="6906" y="2127509"/>
                    <a:pt x="0" y="2110836"/>
                    <a:pt x="0" y="2093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937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GENERATE ESTIMATE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620375" y="4143375"/>
            <a:ext cx="476250" cy="0"/>
          </a:xfrm>
          <a:prstGeom prst="line">
            <a:avLst/>
          </a:prstGeom>
          <a:ln cap="flat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1239500" y="3333750"/>
            <a:ext cx="2952750" cy="1619250"/>
            <a:chOff x="0" y="0"/>
            <a:chExt cx="3937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3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093452"/>
                  </a:lnTo>
                  <a:cubicBezTo>
                    <a:pt x="3937000" y="2110836"/>
                    <a:pt x="3930094" y="2127509"/>
                    <a:pt x="3917801" y="2139801"/>
                  </a:cubicBezTo>
                  <a:cubicBezTo>
                    <a:pt x="3905509" y="2152094"/>
                    <a:pt x="3888836" y="2159000"/>
                    <a:pt x="3871452" y="2159000"/>
                  </a:cubicBezTo>
                  <a:lnTo>
                    <a:pt x="65548" y="2159000"/>
                  </a:lnTo>
                  <a:cubicBezTo>
                    <a:pt x="48164" y="2159000"/>
                    <a:pt x="31491" y="2152094"/>
                    <a:pt x="19199" y="2139801"/>
                  </a:cubicBezTo>
                  <a:cubicBezTo>
                    <a:pt x="6906" y="2127509"/>
                    <a:pt x="0" y="2110836"/>
                    <a:pt x="0" y="2093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3937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1424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VIEW WASTE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192250" y="4143375"/>
            <a:ext cx="476250" cy="0"/>
          </a:xfrm>
          <a:prstGeom prst="line">
            <a:avLst/>
          </a:prstGeom>
          <a:ln cap="flat" w="38100">
            <a:solidFill>
              <a:srgbClr val="55B5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4811375" y="3333750"/>
            <a:ext cx="2952750" cy="1619250"/>
            <a:chOff x="0" y="0"/>
            <a:chExt cx="3937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937000">
                  <a:moveTo>
                    <a:pt x="65548" y="0"/>
                  </a:moveTo>
                  <a:lnTo>
                    <a:pt x="3871452" y="0"/>
                  </a:lnTo>
                  <a:cubicBezTo>
                    <a:pt x="3888836" y="0"/>
                    <a:pt x="3905509" y="6906"/>
                    <a:pt x="3917801" y="19199"/>
                  </a:cubicBezTo>
                  <a:cubicBezTo>
                    <a:pt x="3930094" y="31491"/>
                    <a:pt x="3937000" y="48164"/>
                    <a:pt x="3937000" y="65548"/>
                  </a:cubicBezTo>
                  <a:lnTo>
                    <a:pt x="3937000" y="2093452"/>
                  </a:lnTo>
                  <a:cubicBezTo>
                    <a:pt x="3937000" y="2110836"/>
                    <a:pt x="3930094" y="2127509"/>
                    <a:pt x="3917801" y="2139801"/>
                  </a:cubicBezTo>
                  <a:cubicBezTo>
                    <a:pt x="3905509" y="2152094"/>
                    <a:pt x="3888836" y="2159000"/>
                    <a:pt x="3871452" y="2159000"/>
                  </a:cubicBezTo>
                  <a:lnTo>
                    <a:pt x="65548" y="2159000"/>
                  </a:lnTo>
                  <a:cubicBezTo>
                    <a:pt x="48164" y="2159000"/>
                    <a:pt x="31491" y="2152094"/>
                    <a:pt x="19199" y="2139801"/>
                  </a:cubicBezTo>
                  <a:cubicBezTo>
                    <a:pt x="6906" y="2127509"/>
                    <a:pt x="0" y="2110836"/>
                    <a:pt x="0" y="2093452"/>
                  </a:cubicBezTo>
                  <a:lnTo>
                    <a:pt x="0" y="65548"/>
                  </a:lnTo>
                  <a:cubicBezTo>
                    <a:pt x="0" y="48164"/>
                    <a:pt x="6906" y="31491"/>
                    <a:pt x="19199" y="19199"/>
                  </a:cubicBezTo>
                  <a:cubicBezTo>
                    <a:pt x="31491" y="6906"/>
                    <a:pt x="48164" y="0"/>
                    <a:pt x="65548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937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REVIEW PRIORITY + DRIVERS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76500" y="6410325"/>
            <a:ext cx="1333500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71A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Delhi · 2024  →  ≈ 10,084 t/day  →  HIGH priority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4000" y="7296150"/>
            <a:ext cx="7620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Example model estimate, not official waste data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results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095500"/>
            <a:ext cx="3714750" cy="1714500"/>
            <a:chOff x="0" y="0"/>
            <a:chExt cx="4953000" cy="228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7500" y="447675"/>
              <a:ext cx="4191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581.7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17500" y="1314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RMSE · t/day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0" y="2095500"/>
            <a:ext cx="3714750" cy="1714500"/>
            <a:chOff x="0" y="0"/>
            <a:chExt cx="4953000" cy="228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7500" y="447675"/>
              <a:ext cx="4191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0.920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17500" y="1314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R²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58250" y="2095500"/>
            <a:ext cx="3714750" cy="1714500"/>
            <a:chOff x="0" y="0"/>
            <a:chExt cx="4953000" cy="2286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7500" y="447675"/>
              <a:ext cx="4191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405.9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17500" y="1314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MAE · t/day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6750" y="4286250"/>
            <a:ext cx="3714750" cy="1714500"/>
            <a:chOff x="0" y="0"/>
            <a:chExt cx="4953000" cy="2286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17500" y="447675"/>
              <a:ext cx="4191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0.463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17500" y="1314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CV log-RMSE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62500" y="4286250"/>
            <a:ext cx="3714750" cy="1714500"/>
            <a:chOff x="0" y="0"/>
            <a:chExt cx="4953000" cy="2286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17500" y="447675"/>
              <a:ext cx="4191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17500" y="1314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modelling cities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58250" y="4286250"/>
            <a:ext cx="3714750" cy="1714500"/>
            <a:chOff x="0" y="0"/>
            <a:chExt cx="4953000" cy="2286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953000" cy="2286000"/>
              <a:chOff x="0" y="0"/>
              <a:chExt cx="4953000" cy="2286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953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7E2DF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4953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17500" y="447675"/>
              <a:ext cx="4191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119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17500" y="1314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0717B"/>
                  </a:solidFill>
                  <a:latin typeface="DM Sans"/>
                  <a:ea typeface="DM Sans"/>
                  <a:cs typeface="DM Sans"/>
                  <a:sym typeface="DM Sans"/>
                </a:rPr>
                <a:t>tests passing</a:t>
              </a:r>
            </a:p>
          </p:txBody>
        </p:sp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883506" y="2032204"/>
            <a:ext cx="4808238" cy="5079592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3144500" y="7410450"/>
            <a:ext cx="428625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24,311 → 78,413 t/day observed total waste; no causal claim.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&amp; responsible use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2143125"/>
            <a:ext cx="7620000" cy="5619750"/>
            <a:chOff x="0" y="0"/>
            <a:chExt cx="10160000" cy="749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7493000"/>
              <a:chOff x="0" y="0"/>
              <a:chExt cx="10160000" cy="749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E6F4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62000" y="546100"/>
              <a:ext cx="7620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0B8F8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MODEL CAN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825500" y="12954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✓  Estimate within learned patterns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25500" y="26289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✓  Compare relative collection need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25500" y="39624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✓  Expose model drivers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25500" y="52959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✓  Support exploratory planning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0" y="2143125"/>
            <a:ext cx="8001000" cy="5619750"/>
            <a:chOff x="0" y="0"/>
            <a:chExt cx="10668000" cy="7493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668000" cy="7493000"/>
              <a:chOff x="0" y="0"/>
              <a:chExt cx="10668000" cy="7493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668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F6ECE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668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62000" y="546100"/>
              <a:ext cx="8255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400" b="true">
                  <a:solidFill>
                    <a:srgbClr val="C85D5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MODEL CANNOT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25500" y="1295400"/>
              <a:ext cx="8763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—  Replace official measurements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25500" y="2628900"/>
              <a:ext cx="8763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—  Prove causation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25500" y="3962400"/>
              <a:ext cx="8763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—  Guarantee unseen-city accuracy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25500" y="5295900"/>
              <a:ext cx="8763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42432"/>
                  </a:solidFill>
                  <a:latin typeface="DM Sans"/>
                  <a:ea typeface="DM Sans"/>
                  <a:cs typeface="DM Sans"/>
                  <a:sym typeface="DM Sans"/>
                </a:rPr>
                <a:t>—  Define an official priority standard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28750" y="8124825"/>
            <a:ext cx="15430500" cy="57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72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Small, non-uniform data · missing observations · static 2011 population anchor · weak Tier 2/3 subset R² · limited lag features · unseen cities · deployment requires validation and recalibration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0100" y="6858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true">
                <a:solidFill>
                  <a:srgbClr val="14243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352550"/>
            <a:ext cx="1381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A staged path from prototype to validated institutional use.</a:t>
            </a:r>
          </a:p>
        </p:txBody>
      </p:sp>
      <p:sp>
        <p:nvSpPr>
          <p:cNvPr name="AutoShape 4" id="4"/>
          <p:cNvSpPr/>
          <p:nvPr/>
        </p:nvSpPr>
        <p:spPr>
          <a:xfrm>
            <a:off x="1143000" y="4762500"/>
            <a:ext cx="16002000" cy="0"/>
          </a:xfrm>
          <a:prstGeom prst="line">
            <a:avLst/>
          </a:prstGeom>
          <a:ln cap="rnd" w="76200">
            <a:solidFill>
              <a:srgbClr val="D7E2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76300" y="4495800"/>
            <a:ext cx="533400" cy="533400"/>
            <a:chOff x="0" y="0"/>
            <a:chExt cx="7112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0B8F8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47625" y="2838450"/>
            <a:ext cx="238125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CURRENT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PROTOTYPE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76700" y="4495800"/>
            <a:ext cx="533400" cy="533400"/>
            <a:chOff x="0" y="0"/>
            <a:chExt cx="7112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55B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52775" y="5410200"/>
            <a:ext cx="238125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EXTERNAL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COVARIATES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277100" y="4495800"/>
            <a:ext cx="533400" cy="533400"/>
            <a:chOff x="0" y="0"/>
            <a:chExt cx="7112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55B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353175" y="2838450"/>
            <a:ext cx="238125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TEMPORAL +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LAG FEATURES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77500" y="4495800"/>
            <a:ext cx="533400" cy="533400"/>
            <a:chOff x="0" y="0"/>
            <a:chExt cx="7112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55B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53575" y="5410200"/>
            <a:ext cx="238125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RECENT, GRANULAR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MUNICIPAL DATA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677900" y="4495800"/>
            <a:ext cx="533400" cy="533400"/>
            <a:chOff x="0" y="0"/>
            <a:chExt cx="711200" cy="71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55B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753975" y="2838450"/>
            <a:ext cx="238125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INDEPENDENT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VALIDATION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878300" y="4495800"/>
            <a:ext cx="533400" cy="533400"/>
            <a:chOff x="0" y="0"/>
            <a:chExt cx="7112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55B5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954375" y="5410200"/>
            <a:ext cx="238125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INSTITUTIONAL</a:t>
            </a:r>
          </a:p>
          <a:p>
            <a:pPr algn="ctr">
              <a:lnSpc>
                <a:spcPts val="2340"/>
              </a:lnSpc>
            </a:pPr>
            <a:r>
              <a:rPr lang="en-US" sz="1800" b="true">
                <a:solidFill>
                  <a:srgbClr val="142432"/>
                </a:solidFill>
                <a:latin typeface="DM Sans Bold"/>
                <a:ea typeface="DM Sans Bold"/>
                <a:cs typeface="DM Sans Bold"/>
                <a:sym typeface="DM Sans Bold"/>
              </a:rPr>
              <a:t>DEPLOYMENT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E2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17B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B8F87">
                    <a:alpha val="70000"/>
                  </a:srgbClr>
                </a:gs>
                <a:gs pos="100000">
                  <a:srgbClr val="071A2B">
                    <a:alpha val="100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7750" y="1543050"/>
            <a:ext cx="1190625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4"/>
              </a:lnSpc>
            </a:pPr>
            <a:r>
              <a:rPr lang="en-US" sz="6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Transparent estimates.</a:t>
            </a:r>
          </a:p>
          <a:p>
            <a:pPr algn="l">
              <a:lnSpc>
                <a:spcPts val="6884"/>
              </a:lnSpc>
            </a:pPr>
            <a:r>
              <a:rPr lang="en-US" sz="6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Practical priorities.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952875"/>
            <a:ext cx="1028700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D7E6E3"/>
                </a:solidFill>
                <a:latin typeface="DM Sans"/>
                <a:ea typeface="DM Sans"/>
                <a:cs typeface="DM Sans"/>
                <a:sym typeface="DM Sans"/>
              </a:rPr>
              <a:t>WasteWise AI demonstrates how official municipal-waste data can become transparent ML-based estimates and collection-priority support.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6153150"/>
            <a:ext cx="10477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B9DF7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Dataset-first ML  ·  Time-aware evaluation  ·  Explainable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477125"/>
            <a:ext cx="10477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Analytical decision support — not official waste-management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858750" y="3429000"/>
            <a:ext cx="3714750" cy="2476500"/>
            <a:chOff x="0" y="0"/>
            <a:chExt cx="4953000" cy="3302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53000" cy="3302000"/>
              <a:chOff x="0" y="0"/>
              <a:chExt cx="4953000" cy="3302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53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4953000">
                    <a:moveTo>
                      <a:pt x="2476500" y="0"/>
                    </a:moveTo>
                    <a:cubicBezTo>
                      <a:pt x="3844233" y="0"/>
                      <a:pt x="4953000" y="739178"/>
                      <a:pt x="4953000" y="1651000"/>
                    </a:cubicBezTo>
                    <a:cubicBezTo>
                      <a:pt x="4953000" y="2562822"/>
                      <a:pt x="3844233" y="3302000"/>
                      <a:pt x="2476500" y="3302000"/>
                    </a:cubicBezTo>
                    <a:cubicBezTo>
                      <a:pt x="1108767" y="3302000"/>
                      <a:pt x="0" y="2562822"/>
                      <a:pt x="0" y="1651000"/>
                    </a:cubicBezTo>
                    <a:cubicBezTo>
                      <a:pt x="0" y="739178"/>
                      <a:pt x="1108767" y="0"/>
                      <a:pt x="2476500" y="0"/>
                    </a:cubicBezTo>
                    <a:close/>
                  </a:path>
                </a:pathLst>
              </a:custGeom>
              <a:solidFill>
                <a:srgbClr val="0B8F8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953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" y="1031875"/>
              <a:ext cx="444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119 automated tests pass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0100" y="9525000"/>
            <a:ext cx="16687800" cy="19050"/>
            <a:chOff x="0" y="0"/>
            <a:chExt cx="222504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50400" cy="25400"/>
            </a:xfrm>
            <a:custGeom>
              <a:avLst/>
              <a:gdLst/>
              <a:ahLst/>
              <a:cxnLst/>
              <a:rect r="r" b="b" t="t" l="l"/>
              <a:pathLst>
                <a:path h="25400" w="22250400">
                  <a:moveTo>
                    <a:pt x="0" y="0"/>
                  </a:moveTo>
                  <a:lnTo>
                    <a:pt x="22250400" y="0"/>
                  </a:lnTo>
                  <a:lnTo>
                    <a:pt x="22250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040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2504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00100" y="9686925"/>
            <a:ext cx="5905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A9C4C2"/>
                </a:solidFill>
                <a:latin typeface="DM Sans"/>
                <a:ea typeface="DM Sans"/>
                <a:cs typeface="DM Sans"/>
                <a:sym typeface="DM Sans"/>
              </a:rPr>
              <a:t>WasteWise AI | Internship Final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64000" y="9686925"/>
            <a:ext cx="723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A9C4C2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DAHXb7GmiLU</dc:identifier>
  <dcterms:modified xsi:type="dcterms:W3CDTF">2011-08-01T06:04:30Z</dcterms:modified>
  <cp:revision>1</cp:revision>
  <dc:title>WasteWise AI</dc:title>
</cp:coreProperties>
</file>